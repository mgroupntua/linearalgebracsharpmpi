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12"/>
  </p:notesMasterIdLst>
  <p:handoutMasterIdLst>
    <p:handoutMasterId r:id="rId13"/>
  </p:handoutMasterIdLst>
  <p:sldIdLst>
    <p:sldId id="256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74F416-C361-4F79-8CF7-FD6D161FB633}">
          <p14:sldIdLst>
            <p14:sldId id="25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a Tavlaki" initials="MT" lastIdx="20" clrIdx="0">
    <p:extLst>
      <p:ext uri="{19B8F6BF-5375-455C-9EA6-DF929625EA0E}">
        <p15:presenceInfo xmlns:p15="http://schemas.microsoft.com/office/powerpoint/2012/main" userId="30136cf4bba3dcf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5B79"/>
    <a:srgbClr val="095B6B"/>
    <a:srgbClr val="0B7287"/>
    <a:srgbClr val="FFFFFF"/>
    <a:srgbClr val="66FFCC"/>
    <a:srgbClr val="548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6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8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CC74346-7E80-40A5-8482-B9F3C715D9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E11F4-70BB-4FAA-B996-48DBF096DB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64D6E-F2A5-42B4-A03E-33B645EC2152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65C27-170E-4C66-A227-1CA3C682FE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074F3-8EAE-498D-98DC-A68E6A0DEA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9BB25-E9D8-4197-8F7A-8C59433A0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213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622A7-7F18-4496-99E7-6AA62B4CF0EC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BA70B-8EE0-4F23-A8A3-0493A3829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18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812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4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68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44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5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84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6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9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5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51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13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9525" y="6386511"/>
            <a:ext cx="12201525" cy="47148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403807"/>
            <a:ext cx="2294312" cy="455951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9848674" y="6431727"/>
            <a:ext cx="23344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n-lt"/>
              </a:rPr>
              <a:t>NTUA,</a:t>
            </a:r>
            <a:r>
              <a:rPr lang="en-US" sz="2000" baseline="0" dirty="0">
                <a:latin typeface="+mn-lt"/>
              </a:rPr>
              <a:t> </a:t>
            </a:r>
            <a:r>
              <a:rPr lang="en-US" sz="2000" baseline="0" dirty="0" smtClean="0">
                <a:latin typeface="+mn-lt"/>
              </a:rPr>
              <a:t>October 2026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0224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9525" y="6386511"/>
            <a:ext cx="12201525" cy="47148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29125" y="6439696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38106"/>
            <a:ext cx="27432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2F90F251-BA1B-42E7-A23D-1DF8C7468E14}" type="slidenum">
              <a:rPr lang="en-US" smtClean="0"/>
              <a:pPr/>
              <a:t>‹#›</a:t>
            </a:fld>
            <a:r>
              <a:rPr lang="en-US" dirty="0" smtClean="0"/>
              <a:t>/10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0" y="6433950"/>
            <a:ext cx="2009552" cy="402686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 flipH="1">
            <a:off x="-9525" y="0"/>
            <a:ext cx="12201525" cy="600074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75507" y="0"/>
            <a:ext cx="10431463" cy="600074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091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9525" y="6386511"/>
            <a:ext cx="12201525" cy="47148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6403807"/>
            <a:ext cx="3074751" cy="455951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442719" y="6441904"/>
            <a:ext cx="2819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ook Antiqua" panose="02040602050305030304" pitchFamily="18" charset="0"/>
              </a:rPr>
              <a:t>NTUA</a:t>
            </a:r>
            <a:r>
              <a:rPr lang="en-US" sz="2000" dirty="0"/>
              <a:t>,</a:t>
            </a:r>
            <a:r>
              <a:rPr lang="en-US" sz="2000" baseline="0" dirty="0"/>
              <a:t> 30 October 2018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63110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20433" y="5166879"/>
            <a:ext cx="12192744" cy="3600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/>
            </a:pPr>
            <a:endParaRPr lang="en-US" sz="825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9187" y="5839236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228" y="6021798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9"/>
            <a:ext cx="2743200" cy="365125"/>
          </a:xfrm>
        </p:spPr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47 - Ελεύθερη σχεδίαση"/>
          <p:cNvSpPr/>
          <p:nvPr userDrawn="1"/>
        </p:nvSpPr>
        <p:spPr>
          <a:xfrm rot="10800000">
            <a:off x="-7144" y="6286500"/>
            <a:ext cx="9158288" cy="565150"/>
          </a:xfrm>
          <a:custGeom>
            <a:avLst/>
            <a:gdLst>
              <a:gd name="connsiteX0" fmla="*/ 0 w 9157447"/>
              <a:gd name="connsiteY0" fmla="*/ 564776 h 564776"/>
              <a:gd name="connsiteX1" fmla="*/ 376518 w 9157447"/>
              <a:gd name="connsiteY1" fmla="*/ 564776 h 564776"/>
              <a:gd name="connsiteX2" fmla="*/ 658906 w 9157447"/>
              <a:gd name="connsiteY2" fmla="*/ 228600 h 564776"/>
              <a:gd name="connsiteX3" fmla="*/ 9144000 w 9157447"/>
              <a:gd name="connsiteY3" fmla="*/ 242047 h 564776"/>
              <a:gd name="connsiteX4" fmla="*/ 9157447 w 9157447"/>
              <a:gd name="connsiteY4" fmla="*/ 0 h 564776"/>
              <a:gd name="connsiteX5" fmla="*/ 0 w 9157447"/>
              <a:gd name="connsiteY5" fmla="*/ 13447 h 564776"/>
              <a:gd name="connsiteX6" fmla="*/ 0 w 9157447"/>
              <a:gd name="connsiteY6" fmla="*/ 564776 h 56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7447" h="564776">
                <a:moveTo>
                  <a:pt x="0" y="564776"/>
                </a:moveTo>
                <a:lnTo>
                  <a:pt x="376518" y="564776"/>
                </a:lnTo>
                <a:lnTo>
                  <a:pt x="658906" y="228600"/>
                </a:lnTo>
                <a:lnTo>
                  <a:pt x="9144000" y="242047"/>
                </a:lnTo>
                <a:lnTo>
                  <a:pt x="9157447" y="0"/>
                </a:lnTo>
                <a:lnTo>
                  <a:pt x="0" y="13447"/>
                </a:lnTo>
                <a:lnTo>
                  <a:pt x="0" y="564776"/>
                </a:lnTo>
                <a:close/>
              </a:path>
            </a:pathLst>
          </a:custGeom>
          <a:solidFill>
            <a:srgbClr val="FCB432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l-GR" sz="1350"/>
          </a:p>
        </p:txBody>
      </p:sp>
    </p:spTree>
    <p:extLst>
      <p:ext uri="{BB962C8B-B14F-4D97-AF65-F5344CB8AC3E}">
        <p14:creationId xmlns:p14="http://schemas.microsoft.com/office/powerpoint/2010/main" val="2798649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20433" y="5166879"/>
            <a:ext cx="12192744" cy="3600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/>
            </a:pPr>
            <a:endParaRPr lang="en-US" sz="825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9187" y="5839236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228" y="6021798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9"/>
            <a:ext cx="2743200" cy="365125"/>
          </a:xfrm>
        </p:spPr>
        <p:txBody>
          <a:bodyPr/>
          <a:lstStyle/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47 - Ελεύθερη σχεδίαση"/>
          <p:cNvSpPr/>
          <p:nvPr userDrawn="1"/>
        </p:nvSpPr>
        <p:spPr>
          <a:xfrm rot="10800000">
            <a:off x="-7144" y="6286500"/>
            <a:ext cx="9158288" cy="565150"/>
          </a:xfrm>
          <a:custGeom>
            <a:avLst/>
            <a:gdLst>
              <a:gd name="connsiteX0" fmla="*/ 0 w 9157447"/>
              <a:gd name="connsiteY0" fmla="*/ 564776 h 564776"/>
              <a:gd name="connsiteX1" fmla="*/ 376518 w 9157447"/>
              <a:gd name="connsiteY1" fmla="*/ 564776 h 564776"/>
              <a:gd name="connsiteX2" fmla="*/ 658906 w 9157447"/>
              <a:gd name="connsiteY2" fmla="*/ 228600 h 564776"/>
              <a:gd name="connsiteX3" fmla="*/ 9144000 w 9157447"/>
              <a:gd name="connsiteY3" fmla="*/ 242047 h 564776"/>
              <a:gd name="connsiteX4" fmla="*/ 9157447 w 9157447"/>
              <a:gd name="connsiteY4" fmla="*/ 0 h 564776"/>
              <a:gd name="connsiteX5" fmla="*/ 0 w 9157447"/>
              <a:gd name="connsiteY5" fmla="*/ 13447 h 564776"/>
              <a:gd name="connsiteX6" fmla="*/ 0 w 9157447"/>
              <a:gd name="connsiteY6" fmla="*/ 564776 h 56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7447" h="564776">
                <a:moveTo>
                  <a:pt x="0" y="564776"/>
                </a:moveTo>
                <a:lnTo>
                  <a:pt x="376518" y="564776"/>
                </a:lnTo>
                <a:lnTo>
                  <a:pt x="658906" y="228600"/>
                </a:lnTo>
                <a:lnTo>
                  <a:pt x="9144000" y="242047"/>
                </a:lnTo>
                <a:lnTo>
                  <a:pt x="9157447" y="0"/>
                </a:lnTo>
                <a:lnTo>
                  <a:pt x="0" y="13447"/>
                </a:lnTo>
                <a:lnTo>
                  <a:pt x="0" y="564776"/>
                </a:lnTo>
                <a:close/>
              </a:path>
            </a:pathLst>
          </a:custGeom>
          <a:solidFill>
            <a:srgbClr val="FCB432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l-GR" sz="1350"/>
          </a:p>
        </p:txBody>
      </p:sp>
    </p:spTree>
    <p:extLst>
      <p:ext uri="{BB962C8B-B14F-4D97-AF65-F5344CB8AC3E}">
        <p14:creationId xmlns:p14="http://schemas.microsoft.com/office/powerpoint/2010/main" val="358044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0F251-BA1B-42E7-A23D-1DF8C7468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7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62" r:id="rId14"/>
    <p:sldLayoutId id="2147483673" r:id="rId15"/>
    <p:sldLayoutId id="2147483675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88328" y="639192"/>
            <a:ext cx="5215344" cy="95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967318" y="4158793"/>
            <a:ext cx="4695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http://mgroup.ntua.gr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2042" y="3388765"/>
            <a:ext cx="6006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Large scale analysis and modeling group</a:t>
            </a:r>
          </a:p>
        </p:txBody>
      </p:sp>
    </p:spTree>
    <p:extLst>
      <p:ext uri="{BB962C8B-B14F-4D97-AF65-F5344CB8AC3E}">
        <p14:creationId xmlns:p14="http://schemas.microsoft.com/office/powerpoint/2010/main" val="729932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88AB5F-7BE6-40DE-B492-4ED07ED5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F251-BA1B-42E7-A23D-1DF8C7468E14}" type="slidenum">
              <a:rPr lang="en-US" smtClean="0"/>
              <a:pPr/>
              <a:t>2</a:t>
            </a:fld>
            <a:r>
              <a:rPr lang="en-US" dirty="0" smtClean="0"/>
              <a:t>/10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A8F69-A2CB-434E-ABFE-A79FDAB0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Testing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9F1D3D-C1AB-4F03-8B6A-DD796992BFE5}"/>
              </a:ext>
            </a:extLst>
          </p:cNvPr>
          <p:cNvSpPr txBox="1">
            <a:spLocks/>
          </p:cNvSpPr>
          <p:nvPr/>
        </p:nvSpPr>
        <p:spPr>
          <a:xfrm>
            <a:off x="335341" y="1328507"/>
            <a:ext cx="11681255" cy="4579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each individual method to eliminate bugs in complex programs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 in parallel programming, it is easier to make mistakes and much harder to debug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automatic tests requires some work upfront but saves countless hours of debugging.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tests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altering or extending existing code. Tests make sure that we have not introduced bug in existing code, which may be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Old, probably forgotten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code written by a coworker</a:t>
            </a:r>
          </a:p>
        </p:txBody>
      </p:sp>
    </p:spTree>
    <p:extLst>
      <p:ext uri="{BB962C8B-B14F-4D97-AF65-F5344CB8AC3E}">
        <p14:creationId xmlns:p14="http://schemas.microsoft.com/office/powerpoint/2010/main" val="3778233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80401" y="0"/>
            <a:ext cx="10431463" cy="600074"/>
          </a:xfrm>
        </p:spPr>
        <p:txBody>
          <a:bodyPr/>
          <a:lstStyle/>
          <a:p>
            <a:r>
              <a:rPr lang="en-US" sz="4000" b="1" dirty="0"/>
              <a:t>Vector </a:t>
            </a:r>
            <a:r>
              <a:rPr lang="en-US" sz="4000" b="1" dirty="0" smtClean="0"/>
              <a:t>partition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 txBox="1">
                <a:spLocks/>
              </p:cNvSpPr>
              <p:nvPr/>
            </p:nvSpPr>
            <p:spPr>
              <a:xfrm>
                <a:off x="1080401" y="1355520"/>
                <a:ext cx="7886700" cy="427434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smtClean="0">
                    <a:latin typeface="Cambria Math" panose="02040503050406030204" pitchFamily="18" charset="0"/>
                  </a:rPr>
                  <a:t>vector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entries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threads (or processes)</a:t>
                </a:r>
                <a:endParaRPr lang="el-GR" dirty="0" smtClean="0">
                  <a:latin typeface="Cambria Math" panose="02040503050406030204" pitchFamily="18" charset="0"/>
                </a:endParaRPr>
              </a:p>
              <a:p>
                <a:r>
                  <a:rPr lang="en-US" dirty="0" smtClean="0">
                    <a:latin typeface="Cambria Math" panose="02040503050406030204" pitchFamily="18" charset="0"/>
                  </a:rPr>
                  <a:t>Entries per thread: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+1=3</m:t>
                    </m:r>
                  </m:oMath>
                </a14:m>
                <a:endParaRPr lang="el-GR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dirty="0" smtClean="0"/>
                  <a:t>x</a:t>
                </a:r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0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l-GR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l-GR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l-G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l-GR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l-GR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l-GR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l-GR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l-GR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l-GR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l-GR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 smtClean="0"/>
                  <a:t>		            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401" y="1355520"/>
                <a:ext cx="7886700" cy="4274345"/>
              </a:xfrm>
              <a:prstGeom prst="rect">
                <a:avLst/>
              </a:prstGeom>
              <a:blipFill>
                <a:blip r:embed="rId2"/>
                <a:stretch>
                  <a:fillRect l="-1391" t="-2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2718084" y="4022480"/>
            <a:ext cx="5366031" cy="1158335"/>
            <a:chOff x="3482084" y="3775639"/>
            <a:chExt cx="7154708" cy="1544448"/>
          </a:xfrm>
        </p:grpSpPr>
        <p:sp>
          <p:nvSpPr>
            <p:cNvPr id="11" name="Left Brace 10"/>
            <p:cNvSpPr/>
            <p:nvPr/>
          </p:nvSpPr>
          <p:spPr>
            <a:xfrm rot="16200000">
              <a:off x="3956293" y="3317049"/>
              <a:ext cx="579664" cy="1528081"/>
            </a:xfrm>
            <a:prstGeom prst="lef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2" name="Left Brace 11"/>
            <p:cNvSpPr/>
            <p:nvPr/>
          </p:nvSpPr>
          <p:spPr>
            <a:xfrm rot="16200000">
              <a:off x="6216418" y="3316394"/>
              <a:ext cx="579665" cy="1498156"/>
            </a:xfrm>
            <a:prstGeom prst="lef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3" name="Left Brace 12"/>
            <p:cNvSpPr/>
            <p:nvPr/>
          </p:nvSpPr>
          <p:spPr>
            <a:xfrm rot="16200000">
              <a:off x="8433547" y="3258405"/>
              <a:ext cx="579664" cy="1614136"/>
            </a:xfrm>
            <a:prstGeom prst="lef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4" name="Left Brace 13"/>
            <p:cNvSpPr/>
            <p:nvPr/>
          </p:nvSpPr>
          <p:spPr>
            <a:xfrm rot="16200000">
              <a:off x="9901597" y="3941475"/>
              <a:ext cx="579664" cy="247991"/>
            </a:xfrm>
            <a:prstGeom prst="lef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801345" y="4622460"/>
              <a:ext cx="889560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t=0</a:t>
              </a:r>
              <a:endParaRPr lang="en-US" sz="28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108491" y="4622460"/>
              <a:ext cx="889560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t=1</a:t>
              </a:r>
              <a:endParaRPr lang="en-US" sz="28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25620" y="4581634"/>
              <a:ext cx="889560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t=2</a:t>
              </a:r>
              <a:endParaRPr lang="en-US" sz="28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47232" y="4581634"/>
              <a:ext cx="889560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t=3</a:t>
              </a:r>
              <a:endParaRPr lang="en-US" sz="2800" dirty="0"/>
            </a:p>
          </p:txBody>
        </p:sp>
      </p:grp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1A88AB5F-7BE6-40DE-B492-4ED07ED5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38106"/>
            <a:ext cx="2743200" cy="365125"/>
          </a:xfrm>
        </p:spPr>
        <p:txBody>
          <a:bodyPr/>
          <a:lstStyle/>
          <a:p>
            <a:r>
              <a:rPr lang="en-US" dirty="0"/>
              <a:t>3</a:t>
            </a:r>
            <a:r>
              <a:rPr lang="en-US" dirty="0" smtClean="0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57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>
            <a:spLocks noGrp="1"/>
          </p:cNvSpPr>
          <p:nvPr>
            <p:ph type="title"/>
          </p:nvPr>
        </p:nvSpPr>
        <p:spPr>
          <a:xfrm>
            <a:off x="1080401" y="0"/>
            <a:ext cx="10431463" cy="600074"/>
          </a:xfrm>
        </p:spPr>
        <p:txBody>
          <a:bodyPr/>
          <a:lstStyle/>
          <a:p>
            <a:r>
              <a:rPr lang="en-US" sz="4000" b="1" dirty="0"/>
              <a:t>Vector </a:t>
            </a:r>
            <a:r>
              <a:rPr lang="en-US" sz="4000" b="1" dirty="0" smtClean="0"/>
              <a:t>addition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 txBox="1">
                <a:spLocks/>
              </p:cNvSpPr>
              <p:nvPr/>
            </p:nvSpPr>
            <p:spPr>
              <a:xfrm>
                <a:off x="1770809" y="1797931"/>
                <a:ext cx="8311242" cy="427434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 smtClean="0"/>
                  <a:t>		             </a:t>
                </a:r>
              </a:p>
            </p:txBody>
          </p:sp>
        </mc:Choice>
        <mc:Fallback xmlns="">
          <p:sp>
            <p:nvSpPr>
              <p:cNvPr id="1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09" y="1797931"/>
                <a:ext cx="8311242" cy="42743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3621364" y="2136107"/>
            <a:ext cx="737416" cy="2412170"/>
            <a:chOff x="2586891" y="-315484"/>
            <a:chExt cx="983221" cy="3216228"/>
          </a:xfrm>
        </p:grpSpPr>
        <p:sp>
          <p:nvSpPr>
            <p:cNvPr id="12" name="TextBox 11"/>
            <p:cNvSpPr txBox="1"/>
            <p:nvPr/>
          </p:nvSpPr>
          <p:spPr>
            <a:xfrm>
              <a:off x="2586891" y="-315484"/>
              <a:ext cx="889560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solidFill>
                    <a:schemeClr val="accent1"/>
                  </a:solidFill>
                </a:rPr>
                <a:t>t=0</a:t>
              </a:r>
              <a:endParaRPr lang="en-US" sz="2800" dirty="0">
                <a:solidFill>
                  <a:schemeClr val="accent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680552" y="1097090"/>
              <a:ext cx="889560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solidFill>
                    <a:srgbClr val="FF0000"/>
                  </a:solidFill>
                </a:rPr>
                <a:t>t=1</a:t>
              </a:r>
              <a:endParaRPr 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80552" y="2203117"/>
              <a:ext cx="889560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solidFill>
                    <a:srgbClr val="00B050"/>
                  </a:solidFill>
                </a:rPr>
                <a:t>t=2</a:t>
              </a:r>
              <a:endParaRPr lang="en-US" sz="2800" dirty="0">
                <a:solidFill>
                  <a:srgbClr val="00B050"/>
                </a:solidFill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4599734" y="2007747"/>
            <a:ext cx="2637064" cy="1077715"/>
          </a:xfrm>
          <a:prstGeom prst="rect">
            <a:avLst/>
          </a:prstGeom>
          <a:solidFill>
            <a:srgbClr val="5B9BD5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99734" y="3085462"/>
            <a:ext cx="2637064" cy="1077715"/>
          </a:xfrm>
          <a:prstGeom prst="rect">
            <a:avLst/>
          </a:prstGeom>
          <a:solidFill>
            <a:srgbClr val="FF000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99734" y="4163177"/>
            <a:ext cx="2645228" cy="385100"/>
          </a:xfrm>
          <a:prstGeom prst="rect">
            <a:avLst/>
          </a:prstGeom>
          <a:solidFill>
            <a:srgbClr val="00B05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1A88AB5F-7BE6-40DE-B492-4ED07ED5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38106"/>
            <a:ext cx="2743200" cy="365125"/>
          </a:xfrm>
        </p:spPr>
        <p:txBody>
          <a:bodyPr/>
          <a:lstStyle/>
          <a:p>
            <a:r>
              <a:rPr lang="en-US" dirty="0"/>
              <a:t>4</a:t>
            </a:r>
            <a:r>
              <a:rPr lang="en-US" dirty="0" smtClean="0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006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>
            <a:spLocks noGrp="1"/>
          </p:cNvSpPr>
          <p:nvPr>
            <p:ph type="title"/>
          </p:nvPr>
        </p:nvSpPr>
        <p:spPr>
          <a:xfrm>
            <a:off x="1080401" y="0"/>
            <a:ext cx="10431463" cy="600074"/>
          </a:xfrm>
        </p:spPr>
        <p:txBody>
          <a:bodyPr/>
          <a:lstStyle/>
          <a:p>
            <a:r>
              <a:rPr lang="en-US" sz="4400" b="1" dirty="0"/>
              <a:t>Vector </a:t>
            </a:r>
            <a:r>
              <a:rPr lang="en-US" sz="4400" b="1" dirty="0" smtClean="0"/>
              <a:t>dot product</a:t>
            </a:r>
            <a:endParaRPr lang="en-US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770809" y="1797931"/>
            <a:ext cx="8311242" cy="4274345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320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587260" y="421339"/>
                <a:ext cx="9661584" cy="68663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r>
                  <a:rPr lang="en-US" sz="2400" b="1" dirty="0">
                    <a:latin typeface="Cambria Math" panose="02040503050406030204" pitchFamily="18" charset="0"/>
                  </a:rPr>
                  <a:t>Step 1 </a:t>
                </a:r>
                <a:r>
                  <a:rPr lang="en-US" sz="2400" b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(parallel):</a:t>
                </a:r>
                <a:endParaRPr lang="en-US" sz="2400" b="1" dirty="0">
                  <a:latin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     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0∗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1∗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2∗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3∗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4∗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5∗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6∗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r>
                  <a:rPr lang="en-US" sz="2400" b="1" dirty="0">
                    <a:latin typeface="Cambria Math" panose="02040503050406030204" pitchFamily="18" charset="0"/>
                  </a:rPr>
                  <a:t>Step 2 (serial): </a:t>
                </a:r>
                <a:r>
                  <a:rPr lang="en-US" sz="2400" b="1" i="1" dirty="0">
                    <a:latin typeface="Cambria Math" panose="02040503050406030204" pitchFamily="18" charset="0"/>
                  </a:rPr>
                  <a:t>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400" dirty="0"/>
              </a:p>
              <a:p>
                <a:pPr algn="ctr"/>
                <a:endParaRPr lang="en-US" sz="2400" dirty="0"/>
              </a:p>
              <a:p>
                <a:endParaRPr lang="en-US" sz="2000" dirty="0"/>
              </a:p>
              <a:p>
                <a:r>
                  <a:rPr lang="en-US" sz="2000" dirty="0"/>
                  <a:t>		            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260" y="421339"/>
                <a:ext cx="9661584" cy="6866367"/>
              </a:xfrm>
              <a:prstGeom prst="rect">
                <a:avLst/>
              </a:prstGeom>
              <a:blipFill>
                <a:blip r:embed="rId2"/>
                <a:stretch>
                  <a:fillRect l="-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2594548" y="2330274"/>
            <a:ext cx="7605769" cy="2633439"/>
            <a:chOff x="774374" y="2347526"/>
            <a:chExt cx="7605769" cy="2633439"/>
          </a:xfrm>
        </p:grpSpPr>
        <p:grpSp>
          <p:nvGrpSpPr>
            <p:cNvPr id="19" name="Group 18"/>
            <p:cNvGrpSpPr/>
            <p:nvPr/>
          </p:nvGrpSpPr>
          <p:grpSpPr>
            <a:xfrm>
              <a:off x="774374" y="2347526"/>
              <a:ext cx="1820022" cy="2633439"/>
              <a:chOff x="645592" y="2321482"/>
              <a:chExt cx="1820022" cy="2633439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645592" y="2321482"/>
                <a:ext cx="1820022" cy="1164667"/>
              </a:xfrm>
              <a:prstGeom prst="rect">
                <a:avLst/>
              </a:prstGeom>
              <a:solidFill>
                <a:srgbClr val="5B9BD5">
                  <a:alpha val="25098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645592" y="3486150"/>
                <a:ext cx="1820022" cy="1088106"/>
              </a:xfrm>
              <a:prstGeom prst="rect">
                <a:avLst/>
              </a:prstGeom>
              <a:solidFill>
                <a:srgbClr val="FF0000">
                  <a:alpha val="25098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645592" y="4568169"/>
                <a:ext cx="1820022" cy="386752"/>
              </a:xfrm>
              <a:prstGeom prst="rect">
                <a:avLst/>
              </a:prstGeom>
              <a:solidFill>
                <a:srgbClr val="00B050">
                  <a:alpha val="25098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3365162" y="3123970"/>
              <a:ext cx="5014981" cy="1126668"/>
              <a:chOff x="3272890" y="3110593"/>
              <a:chExt cx="5014981" cy="1126668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3272892" y="3110593"/>
                <a:ext cx="5014979" cy="375556"/>
              </a:xfrm>
              <a:prstGeom prst="rect">
                <a:avLst/>
              </a:prstGeom>
              <a:solidFill>
                <a:srgbClr val="5B9BD5">
                  <a:alpha val="25098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3272891" y="3486149"/>
                <a:ext cx="5014979" cy="375556"/>
              </a:xfrm>
              <a:prstGeom prst="rect">
                <a:avLst/>
              </a:prstGeom>
              <a:solidFill>
                <a:srgbClr val="FF0000">
                  <a:alpha val="25098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3272890" y="3861705"/>
                <a:ext cx="5014979" cy="375556"/>
              </a:xfrm>
              <a:prstGeom prst="rect">
                <a:avLst/>
              </a:prstGeom>
              <a:solidFill>
                <a:srgbClr val="00B050">
                  <a:alpha val="25098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accent1"/>
                  </a:solidFill>
                </a:endParaRPr>
              </a:p>
            </p:txBody>
          </p:sp>
        </p:grpSp>
        <p:cxnSp>
          <p:nvCxnSpPr>
            <p:cNvPr id="21" name="Straight Arrow Connector 20"/>
            <p:cNvCxnSpPr/>
            <p:nvPr/>
          </p:nvCxnSpPr>
          <p:spPr>
            <a:xfrm>
              <a:off x="2717661" y="3004457"/>
              <a:ext cx="530648" cy="307291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677435" y="3687304"/>
              <a:ext cx="560331" cy="3689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2719622" y="4139293"/>
              <a:ext cx="518144" cy="648296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1A88AB5F-7BE6-40DE-B492-4ED07ED5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38106"/>
            <a:ext cx="2743200" cy="365125"/>
          </a:xfrm>
        </p:spPr>
        <p:txBody>
          <a:bodyPr/>
          <a:lstStyle/>
          <a:p>
            <a:r>
              <a:rPr lang="en-US" dirty="0" smtClean="0"/>
              <a:t>5/10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645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 txBox="1">
            <a:spLocks/>
          </p:cNvSpPr>
          <p:nvPr/>
        </p:nvSpPr>
        <p:spPr>
          <a:xfrm>
            <a:off x="2366720" y="33684"/>
            <a:ext cx="7886700" cy="612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en-US" b="1" dirty="0" smtClean="0">
                <a:latin typeface="+mn-lt"/>
              </a:rPr>
              <a:t>Striped matrix * vector</a:t>
            </a:r>
            <a:endParaRPr lang="en-US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572402" y="1608150"/>
                <a:ext cx="8311242" cy="427434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2400" dirty="0" smtClean="0"/>
                  <a:t>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7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02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03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04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05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06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34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41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43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46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51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52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53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54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56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61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63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63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65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66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 smtClean="0"/>
                  <a:t>		             </a:t>
                </a: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402" y="1608150"/>
                <a:ext cx="8311242" cy="42743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1351651" y="2144361"/>
            <a:ext cx="737416" cy="2341976"/>
            <a:chOff x="2586891" y="-315484"/>
            <a:chExt cx="983220" cy="3122636"/>
          </a:xfrm>
        </p:grpSpPr>
        <p:sp>
          <p:nvSpPr>
            <p:cNvPr id="33" name="TextBox 32"/>
            <p:cNvSpPr txBox="1"/>
            <p:nvPr/>
          </p:nvSpPr>
          <p:spPr>
            <a:xfrm>
              <a:off x="2586891" y="-315484"/>
              <a:ext cx="889560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solidFill>
                    <a:schemeClr val="accent1"/>
                  </a:solidFill>
                </a:rPr>
                <a:t>t=0</a:t>
              </a:r>
              <a:endParaRPr lang="en-US" sz="2800" dirty="0">
                <a:solidFill>
                  <a:schemeClr val="accent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680552" y="1097090"/>
              <a:ext cx="889559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solidFill>
                    <a:srgbClr val="FF0000"/>
                  </a:solidFill>
                </a:rPr>
                <a:t>t=1</a:t>
              </a:r>
              <a:endParaRPr 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662002" y="2109525"/>
              <a:ext cx="889559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solidFill>
                    <a:srgbClr val="00B050"/>
                  </a:solidFill>
                </a:rPr>
                <a:t>t=2</a:t>
              </a:r>
              <a:endParaRPr lang="en-US" sz="2800" dirty="0">
                <a:solidFill>
                  <a:srgbClr val="00B050"/>
                </a:solidFill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2273674" y="1921907"/>
            <a:ext cx="5551102" cy="1067264"/>
          </a:xfrm>
          <a:prstGeom prst="rect">
            <a:avLst/>
          </a:prstGeom>
          <a:solidFill>
            <a:srgbClr val="5B9BD5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273673" y="2989171"/>
            <a:ext cx="5551102" cy="1017761"/>
          </a:xfrm>
          <a:prstGeom prst="rect">
            <a:avLst/>
          </a:prstGeom>
          <a:solidFill>
            <a:srgbClr val="FF000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273673" y="4006933"/>
            <a:ext cx="5551102" cy="386752"/>
          </a:xfrm>
          <a:prstGeom prst="rect">
            <a:avLst/>
          </a:prstGeom>
          <a:solidFill>
            <a:srgbClr val="00B05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9" name="Left Brace 38"/>
          <p:cNvSpPr/>
          <p:nvPr/>
        </p:nvSpPr>
        <p:spPr>
          <a:xfrm rot="16200000">
            <a:off x="8241664" y="4702662"/>
            <a:ext cx="434748" cy="413325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0" name="TextBox 39"/>
          <p:cNvSpPr txBox="1"/>
          <p:nvPr/>
        </p:nvSpPr>
        <p:spPr>
          <a:xfrm>
            <a:off x="7307829" y="5192471"/>
            <a:ext cx="27157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All threads read the </a:t>
            </a:r>
          </a:p>
          <a:p>
            <a:r>
              <a:rPr lang="en-US" sz="2400" dirty="0" smtClean="0"/>
              <a:t>whole vector </a:t>
            </a:r>
            <a:r>
              <a:rPr lang="en-US" sz="2400" b="1" dirty="0" smtClean="0"/>
              <a:t>x</a:t>
            </a:r>
            <a:endParaRPr lang="en-US" sz="2400" b="1" dirty="0"/>
          </a:p>
        </p:txBody>
      </p:sp>
      <p:sp>
        <p:nvSpPr>
          <p:cNvPr id="41" name="Rectangle 40"/>
          <p:cNvSpPr/>
          <p:nvPr/>
        </p:nvSpPr>
        <p:spPr>
          <a:xfrm>
            <a:off x="9212704" y="1946326"/>
            <a:ext cx="421822" cy="1017761"/>
          </a:xfrm>
          <a:prstGeom prst="rect">
            <a:avLst/>
          </a:prstGeom>
          <a:solidFill>
            <a:srgbClr val="5B9BD5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212704" y="2964088"/>
            <a:ext cx="421822" cy="1066600"/>
          </a:xfrm>
          <a:prstGeom prst="rect">
            <a:avLst/>
          </a:prstGeom>
          <a:solidFill>
            <a:srgbClr val="FF000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212704" y="4030687"/>
            <a:ext cx="421822" cy="337913"/>
          </a:xfrm>
          <a:prstGeom prst="rect">
            <a:avLst/>
          </a:prstGeom>
          <a:solidFill>
            <a:srgbClr val="00B05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1A88AB5F-7BE6-40DE-B492-4ED07ED5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38106"/>
            <a:ext cx="2743200" cy="365125"/>
          </a:xfrm>
        </p:spPr>
        <p:txBody>
          <a:bodyPr/>
          <a:lstStyle/>
          <a:p>
            <a:r>
              <a:rPr lang="en-US" dirty="0"/>
              <a:t>6</a:t>
            </a:r>
            <a:r>
              <a:rPr lang="en-US" dirty="0" smtClean="0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0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2107925" y="0"/>
            <a:ext cx="7886700" cy="61257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+mn-lt"/>
              </a:rPr>
              <a:t>Distributed memory vectors</a:t>
            </a:r>
            <a:endParaRPr lang="en-US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/>
              <p:cNvSpPr txBox="1">
                <a:spLocks/>
              </p:cNvSpPr>
              <p:nvPr/>
            </p:nvSpPr>
            <p:spPr>
              <a:xfrm>
                <a:off x="1409185" y="789330"/>
                <a:ext cx="9416966" cy="553436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smtClean="0"/>
                  <a:t>global </a:t>
                </a:r>
                <a:r>
                  <a:rPr lang="en-US" b="1" dirty="0"/>
                  <a:t>x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0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 dirty="0" smtClean="0"/>
              </a:p>
              <a:p>
                <a:r>
                  <a:rPr lang="en-US" b="1" dirty="0" smtClean="0"/>
                  <a:t>Distributed vector</a:t>
                </a:r>
                <a:r>
                  <a:rPr lang="en-US" dirty="0" smtClean="0"/>
                  <a:t>		             </a:t>
                </a:r>
              </a:p>
              <a:p>
                <a:pPr marL="2286000" indent="0">
                  <a:buFont typeface="Arial" panose="020B0604020202020204" pitchFamily="34" charset="0"/>
                  <a:buNone/>
                </a:pPr>
                <a:r>
                  <a:rPr lang="en-US" sz="2400" dirty="0" smtClean="0"/>
                  <a:t>process 0: local </a:t>
                </a:r>
                <a:r>
                  <a:rPr lang="en-US" sz="2400" b="1" dirty="0" smtClean="0"/>
                  <a:t>x</a:t>
                </a:r>
                <a:r>
                  <a:rPr lang="en-US" sz="2400" dirty="0" smtClean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 smtClean="0"/>
              </a:p>
              <a:p>
                <a:pPr marL="228600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process </a:t>
                </a:r>
                <a:r>
                  <a:rPr lang="en-US" sz="2400" dirty="0" smtClean="0"/>
                  <a:t>1: </a:t>
                </a:r>
                <a:r>
                  <a:rPr lang="en-US" sz="2400" dirty="0"/>
                  <a:t>local </a:t>
                </a:r>
                <a:r>
                  <a:rPr lang="en-US" sz="2400" b="1" dirty="0"/>
                  <a:t>x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 smtClean="0"/>
              </a:p>
              <a:p>
                <a:pPr marL="228600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process </a:t>
                </a:r>
                <a:r>
                  <a:rPr lang="en-US" sz="2400" dirty="0" smtClean="0"/>
                  <a:t>2: </a:t>
                </a:r>
                <a:r>
                  <a:rPr lang="en-US" sz="2400" dirty="0"/>
                  <a:t>local </a:t>
                </a:r>
                <a:r>
                  <a:rPr lang="en-US" sz="2400" b="1" dirty="0"/>
                  <a:t>x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 marL="228600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process </a:t>
                </a:r>
                <a:r>
                  <a:rPr lang="en-US" sz="2400" dirty="0" smtClean="0"/>
                  <a:t>3: </a:t>
                </a:r>
                <a:r>
                  <a:rPr lang="en-US" sz="2400" dirty="0"/>
                  <a:t>local </a:t>
                </a:r>
                <a:r>
                  <a:rPr lang="en-US" sz="2400" b="1" dirty="0" smtClean="0"/>
                  <a:t>x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endParaRPr lang="en-US" dirty="0" smtClean="0"/>
              </a:p>
              <a:p>
                <a:pPr>
                  <a:spcBef>
                    <a:spcPts val="1800"/>
                  </a:spcBef>
                </a:pPr>
                <a:r>
                  <a:rPr lang="en-US" b="1" dirty="0" smtClean="0"/>
                  <a:t>Mirror vector</a:t>
                </a:r>
              </a:p>
              <a:p>
                <a:pPr marL="45720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process 0: local </a:t>
                </a:r>
                <a:r>
                  <a:rPr lang="en-US" sz="2400" b="1" dirty="0"/>
                  <a:t>x</a:t>
                </a:r>
                <a:r>
                  <a:rPr lang="en-US" sz="2400" dirty="0"/>
                  <a:t>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0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l-G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 marL="45720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process 1: local </a:t>
                </a:r>
                <a:r>
                  <a:rPr lang="en-US" sz="2400" b="1" dirty="0"/>
                  <a:t>x</a:t>
                </a:r>
                <a:r>
                  <a:rPr lang="en-US" sz="2400" dirty="0"/>
                  <a:t>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0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l-G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 marL="45720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process 2: local </a:t>
                </a:r>
                <a:r>
                  <a:rPr lang="en-US" sz="2400" b="1" dirty="0"/>
                  <a:t>x</a:t>
                </a:r>
                <a:r>
                  <a:rPr lang="en-US" sz="2400" dirty="0"/>
                  <a:t>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0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l-G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 marL="45720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process 3: local </a:t>
                </a:r>
                <a:r>
                  <a:rPr lang="en-US" sz="2400" b="1" dirty="0"/>
                  <a:t>x</a:t>
                </a:r>
                <a:r>
                  <a:rPr lang="en-US" sz="2400" dirty="0"/>
                  <a:t>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0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l-G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185" y="789330"/>
                <a:ext cx="9416966" cy="5534368"/>
              </a:xfrm>
              <a:prstGeom prst="rect">
                <a:avLst/>
              </a:prstGeom>
              <a:blipFill>
                <a:blip r:embed="rId2"/>
                <a:stretch>
                  <a:fillRect l="-1165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A88AB5F-7BE6-40DE-B492-4ED07ED5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38106"/>
            <a:ext cx="2743200" cy="365125"/>
          </a:xfrm>
        </p:spPr>
        <p:txBody>
          <a:bodyPr/>
          <a:lstStyle/>
          <a:p>
            <a:r>
              <a:rPr lang="en-US" dirty="0" smtClean="0"/>
              <a:t>7/10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152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/>
          <p:cNvSpPr txBox="1">
            <a:spLocks/>
          </p:cNvSpPr>
          <p:nvPr/>
        </p:nvSpPr>
        <p:spPr>
          <a:xfrm>
            <a:off x="1409185" y="789330"/>
            <a:ext cx="9416966" cy="55343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25377" y="6781"/>
            <a:ext cx="7886700" cy="612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en-US" b="1" dirty="0" smtClean="0">
                <a:latin typeface="+mn-lt"/>
              </a:rPr>
              <a:t>MPI collective routines</a:t>
            </a:r>
            <a:endParaRPr lang="en-US" b="1" dirty="0"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165" y="1402641"/>
            <a:ext cx="3530774" cy="15888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948" y="1313385"/>
            <a:ext cx="3718677" cy="16781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134" y="4207662"/>
            <a:ext cx="3626803" cy="16413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705" y="4105662"/>
            <a:ext cx="2724371" cy="21263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39445" y="790165"/>
            <a:ext cx="16633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Broadcast</a:t>
            </a:r>
            <a:endParaRPr lang="en-US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613842" y="663982"/>
            <a:ext cx="1228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Scatter</a:t>
            </a:r>
            <a:endParaRPr 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056812" y="3582442"/>
            <a:ext cx="1215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Gather</a:t>
            </a:r>
            <a:endParaRPr 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627179" y="3482915"/>
            <a:ext cx="1544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 smtClean="0"/>
              <a:t>Allgather</a:t>
            </a:r>
            <a:endParaRPr lang="en-US" sz="2800" b="1" dirty="0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1A88AB5F-7BE6-40DE-B492-4ED07ED5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38106"/>
            <a:ext cx="2743200" cy="365125"/>
          </a:xfrm>
        </p:spPr>
        <p:txBody>
          <a:bodyPr/>
          <a:lstStyle/>
          <a:p>
            <a:r>
              <a:rPr lang="en-US" dirty="0" smtClean="0"/>
              <a:t>8/10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93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900891" y="80953"/>
            <a:ext cx="7886700" cy="61257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+mn-lt"/>
              </a:rPr>
              <a:t>Jacobi algorithm</a:t>
            </a:r>
            <a:endParaRPr lang="en-US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481100" y="899566"/>
                <a:ext cx="6614160" cy="47397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b="1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Solve: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24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en-US" sz="24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𝑫𝒙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𝑫𝒙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en-US" sz="24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2400" b="1" dirty="0" smtClean="0"/>
              </a:p>
              <a:p>
                <a:endParaRPr lang="en-US" b="1" dirty="0" smtClean="0">
                  <a:latin typeface="+mn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b="1" dirty="0" smtClean="0"/>
                  <a:t>Algorithm:</a:t>
                </a:r>
              </a:p>
              <a:p>
                <a:r>
                  <a:rPr lang="en-US" sz="2800" b="1" dirty="0">
                    <a:latin typeface="+mn-lt"/>
                  </a:rPr>
                  <a:t> </a:t>
                </a:r>
                <a:r>
                  <a:rPr lang="en-US" sz="2800" b="1" dirty="0" smtClean="0">
                    <a:latin typeface="+mn-lt"/>
                  </a:rPr>
                  <a:t>  </a:t>
                </a:r>
                <a:r>
                  <a:rPr lang="en-US" sz="2400" dirty="0" smtClean="0">
                    <a:latin typeface="+mn-lt"/>
                  </a:rPr>
                  <a:t>for t = 0, 1, …</a:t>
                </a:r>
              </a:p>
              <a:p>
                <a:r>
                  <a:rPr lang="en-US" sz="2800" b="1" dirty="0"/>
                  <a:t>	</a:t>
                </a:r>
                <a:r>
                  <a:rPr lang="en-US" sz="2800" b="1" dirty="0" smtClean="0"/>
                  <a:t>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400" b="1" dirty="0" smtClean="0"/>
              </a:p>
              <a:p>
                <a:r>
                  <a:rPr lang="en-US" b="1" dirty="0" smtClean="0">
                    <a:latin typeface="+mn-lt"/>
                  </a:rPr>
                  <a:t>	     </a:t>
                </a:r>
                <a:r>
                  <a:rPr lang="en-US" sz="2400" dirty="0" smtClean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l-GR" sz="24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 smtClean="0"/>
                  <a:t> end</a:t>
                </a:r>
              </a:p>
              <a:p>
                <a:endParaRPr lang="en-US" sz="1600" b="1" dirty="0" smtClean="0">
                  <a:latin typeface="+mn-lt"/>
                </a:endParaRPr>
              </a:p>
              <a:p>
                <a:endParaRPr lang="en-US" b="1" dirty="0" smtClean="0">
                  <a:latin typeface="+mn-lt"/>
                </a:endParaRPr>
              </a:p>
              <a:p>
                <a:pPr>
                  <a:spcAft>
                    <a:spcPts val="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100" y="899566"/>
                <a:ext cx="6614160" cy="4739759"/>
              </a:xfrm>
              <a:prstGeom prst="rect">
                <a:avLst/>
              </a:prstGeom>
              <a:blipFill>
                <a:blip r:embed="rId2"/>
                <a:stretch>
                  <a:fillRect l="-1659" t="-1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A88AB5F-7BE6-40DE-B492-4ED07ED5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38106"/>
            <a:ext cx="2743200" cy="365125"/>
          </a:xfrm>
        </p:spPr>
        <p:txBody>
          <a:bodyPr/>
          <a:lstStyle/>
          <a:p>
            <a:r>
              <a:rPr lang="en-US" dirty="0" smtClean="0"/>
              <a:t>9/10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308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7374" y="0"/>
            <a:ext cx="7886700" cy="61257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+mn-lt"/>
              </a:rPr>
              <a:t>Preconditioned Conjugate Gradient</a:t>
            </a:r>
            <a:endParaRPr lang="en-US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740724" y="946688"/>
                <a:ext cx="6614160" cy="51978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b="1" dirty="0" smtClean="0"/>
                  <a:t>Algorithm</a:t>
                </a:r>
                <a:endParaRPr lang="en-US" sz="2000" b="1" i="1" dirty="0" smtClean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2000" b="1" dirty="0" smtClean="0"/>
              </a:p>
              <a:p>
                <a:pPr marL="1431925"/>
                <a:r>
                  <a:rPr lang="en-US" sz="2000" dirty="0" smtClean="0"/>
                  <a:t>for t = 1, 2, …</a:t>
                </a:r>
              </a:p>
              <a:p>
                <a:pPr marL="288925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288925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288925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1431925"/>
                <a:r>
                  <a:rPr lang="en-US" sz="2000" dirty="0" smtClean="0"/>
                  <a:t>if</a:t>
                </a:r>
                <a:r>
                  <a:rPr lang="el-GR" sz="20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l-G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l-G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l-GR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000" b="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l-G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sz="2000" dirty="0" smtClean="0"/>
                  <a:t> </a:t>
                </a:r>
                <a:r>
                  <a:rPr lang="en-US" sz="2000" dirty="0" smtClean="0"/>
                  <a:t> </a:t>
                </a:r>
                <a:r>
                  <a:rPr lang="el-GR" sz="2000" dirty="0" smtClean="0"/>
                  <a:t> </a:t>
                </a:r>
                <a:r>
                  <a:rPr lang="en-US" sz="2000" dirty="0" smtClean="0"/>
                  <a:t>end</a:t>
                </a:r>
              </a:p>
              <a:p>
                <a:pPr marL="288925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 smtClean="0"/>
              </a:p>
              <a:p>
                <a:pPr marL="288925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288925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2000" b="1" dirty="0" smtClean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724" y="946688"/>
                <a:ext cx="6614160" cy="5197833"/>
              </a:xfrm>
              <a:prstGeom prst="rect">
                <a:avLst/>
              </a:prstGeom>
              <a:blipFill>
                <a:blip r:embed="rId2"/>
                <a:stretch>
                  <a:fillRect l="-1659" t="-1055" b="-12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5275" y="2130726"/>
                <a:ext cx="6001643" cy="1723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Solve: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4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Preconditioner: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b="1" dirty="0"/>
              </a:p>
              <a:p>
                <a:pPr marL="800100" lvl="1" indent="-342900"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US" sz="2000" dirty="0"/>
                  <a:t>A simple choice: </a:t>
                </a:r>
                <a:r>
                  <a:rPr lang="en-US" dirty="0"/>
                  <a:t>take the diagonal of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 and invert it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75" y="2130726"/>
                <a:ext cx="6001643" cy="1723549"/>
              </a:xfrm>
              <a:prstGeom prst="rect">
                <a:avLst/>
              </a:prstGeom>
              <a:blipFill>
                <a:blip r:embed="rId3"/>
                <a:stretch>
                  <a:fillRect l="-1320" t="-2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A88AB5F-7BE6-40DE-B492-4ED07ED5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38106"/>
            <a:ext cx="2743200" cy="365125"/>
          </a:xfrm>
        </p:spPr>
        <p:txBody>
          <a:bodyPr/>
          <a:lstStyle/>
          <a:p>
            <a:r>
              <a:rPr lang="en-US" dirty="0" smtClean="0"/>
              <a:t>10/10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9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1807</TotalTime>
  <Words>177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Book Antiqua</vt:lpstr>
      <vt:lpstr>Calibri</vt:lpstr>
      <vt:lpstr>Calibri Light</vt:lpstr>
      <vt:lpstr>Cambria Math</vt:lpstr>
      <vt:lpstr>Courier New</vt:lpstr>
      <vt:lpstr>Helvetica</vt:lpstr>
      <vt:lpstr>Times New Roman</vt:lpstr>
      <vt:lpstr>Verdana</vt:lpstr>
      <vt:lpstr>Wingdings</vt:lpstr>
      <vt:lpstr>Office Theme</vt:lpstr>
      <vt:lpstr>PowerPoint Presentation</vt:lpstr>
      <vt:lpstr>Testing</vt:lpstr>
      <vt:lpstr>Vector partition</vt:lpstr>
      <vt:lpstr>Vector addition</vt:lpstr>
      <vt:lpstr>Vector dot product</vt:lpstr>
      <vt:lpstr>PowerPoint Presentation</vt:lpstr>
      <vt:lpstr>Distributed memory vectors</vt:lpstr>
      <vt:lpstr>PowerPoint Presentation</vt:lpstr>
      <vt:lpstr>Jacobi algorithm</vt:lpstr>
      <vt:lpstr>Preconditioned Conjugate Gradient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Δομή MSolve</dc:title>
  <dc:creator>Serafeim</dc:creator>
  <cp:lastModifiedBy>Serafeim</cp:lastModifiedBy>
  <cp:revision>124</cp:revision>
  <dcterms:created xsi:type="dcterms:W3CDTF">2018-10-04T09:17:34Z</dcterms:created>
  <dcterms:modified xsi:type="dcterms:W3CDTF">2026-10-17T11:48:56Z</dcterms:modified>
</cp:coreProperties>
</file>